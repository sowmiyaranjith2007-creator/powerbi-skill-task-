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BF706-4AB0-24DB-C05D-D7ADDAD1E5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2D6E2FF-520D-F013-93DA-8AF5421CEE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33B667-D8A9-4AA5-F4C6-A1BB68419F27}"/>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5" name="Footer Placeholder 4">
            <a:extLst>
              <a:ext uri="{FF2B5EF4-FFF2-40B4-BE49-F238E27FC236}">
                <a16:creationId xmlns:a16="http://schemas.microsoft.com/office/drawing/2014/main" id="{991D7BB9-C674-0835-1AAA-CEB25F8539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50C141-4065-968A-C500-6D8412F29F40}"/>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4252950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E2F4-DC1A-FF76-31E8-C83B52463F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D7D7E8-0B16-8AFE-AA33-5D022CB707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5E5934-52BA-322A-F95A-E85A729DFEE7}"/>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5" name="Footer Placeholder 4">
            <a:extLst>
              <a:ext uri="{FF2B5EF4-FFF2-40B4-BE49-F238E27FC236}">
                <a16:creationId xmlns:a16="http://schemas.microsoft.com/office/drawing/2014/main" id="{5D1F91C2-E6CF-23F1-ADCD-8B3966AEEC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56CD36-0ED0-D59B-51A6-8478C3E8B432}"/>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2782749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21ECD-9736-479B-D9BE-8C79662A4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F4E0FD-4B66-E46A-77BC-76A9FC621C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A80CF5-1518-9EC0-9214-79B4E67D9347}"/>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5" name="Footer Placeholder 4">
            <a:extLst>
              <a:ext uri="{FF2B5EF4-FFF2-40B4-BE49-F238E27FC236}">
                <a16:creationId xmlns:a16="http://schemas.microsoft.com/office/drawing/2014/main" id="{9A774E9F-2328-59FC-B5AC-7F564E44D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3208C2-5BC5-5BA4-AC67-6B8D9BD2D734}"/>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473746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BFB25-BDF2-5ECD-5A9A-E103834A33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A50AF1-3991-EF9C-526C-46595965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1149A5-96A1-EBB9-0F82-48243C1321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406FE0-947C-5BCA-0455-99F4B5B4EEBD}"/>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6" name="Footer Placeholder 5">
            <a:extLst>
              <a:ext uri="{FF2B5EF4-FFF2-40B4-BE49-F238E27FC236}">
                <a16:creationId xmlns:a16="http://schemas.microsoft.com/office/drawing/2014/main" id="{D5C2C841-C9A8-C8FD-E242-54136701EF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935A79-C408-DFC4-4483-0557AA47254D}"/>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254854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2E8D-9EA0-B48B-2B8E-EB7CE8B616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950C56-9909-FC94-7629-0F411E2A81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E0CB9B-5DF9-BA91-B714-2DECC9AF93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1D57BF2-4B36-9905-CC76-2B15E90FA5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546F95-43CA-5BE2-8D1C-DC4850903E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796606-06F9-ABF3-F39A-2FBB31AA2F92}"/>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8" name="Footer Placeholder 7">
            <a:extLst>
              <a:ext uri="{FF2B5EF4-FFF2-40B4-BE49-F238E27FC236}">
                <a16:creationId xmlns:a16="http://schemas.microsoft.com/office/drawing/2014/main" id="{9B3D0E7D-0E2B-D855-DEC9-DE14465B6E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AD6E91-C4C9-5479-119A-96C701865E14}"/>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2361413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5FBF-1288-7100-8EA9-5F0C5C9403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9735C9-E5EB-2461-4928-080874BBC99E}"/>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4" name="Footer Placeholder 3">
            <a:extLst>
              <a:ext uri="{FF2B5EF4-FFF2-40B4-BE49-F238E27FC236}">
                <a16:creationId xmlns:a16="http://schemas.microsoft.com/office/drawing/2014/main" id="{3CEA9BDE-9585-08A6-FE7E-B4D0181828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0F1FC4-4797-95E3-BF3D-F742BCCA3739}"/>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3975222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295847-CB06-D73A-F0EB-87F541839941}"/>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3" name="Footer Placeholder 2">
            <a:extLst>
              <a:ext uri="{FF2B5EF4-FFF2-40B4-BE49-F238E27FC236}">
                <a16:creationId xmlns:a16="http://schemas.microsoft.com/office/drawing/2014/main" id="{977FF208-0FAC-54EE-D23F-E7E56B1187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63D12C-02DD-416C-5D72-0D07D6935C81}"/>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2449343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29E5-6CF4-A8ED-C9C1-CF14646D49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3F1F33-2003-A939-001B-DBC860448C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57AB948-8E24-A531-DD4D-A400ADD1F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1E3249-82AE-3712-A37B-0A88E12EDFBF}"/>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6" name="Footer Placeholder 5">
            <a:extLst>
              <a:ext uri="{FF2B5EF4-FFF2-40B4-BE49-F238E27FC236}">
                <a16:creationId xmlns:a16="http://schemas.microsoft.com/office/drawing/2014/main" id="{2C9988AA-299D-CED5-C186-45C0C47047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F0300-E19E-33A9-9CA5-BF99B4BAE4F6}"/>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272684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A5B9D-0948-E5A6-D22D-E6546C861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8C6DDC-FEB6-F08F-9E7A-ECD2216EA6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8FA966-C4DC-013F-2B65-DF1BC3475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3454D-5314-1E70-830F-8C09644E4CE6}"/>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6" name="Footer Placeholder 5">
            <a:extLst>
              <a:ext uri="{FF2B5EF4-FFF2-40B4-BE49-F238E27FC236}">
                <a16:creationId xmlns:a16="http://schemas.microsoft.com/office/drawing/2014/main" id="{E6A2B046-E316-AFA7-10AC-3760CF3EF4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122450-DD2D-DD28-3C4A-20F2A3E9C824}"/>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1155271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45AA-BAFA-0951-13FC-2200527638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E860FB-0254-06E1-12D8-4E2B18A73D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9A4DFB-6A02-9582-0ABA-4251FD3255BC}"/>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5" name="Footer Placeholder 4">
            <a:extLst>
              <a:ext uri="{FF2B5EF4-FFF2-40B4-BE49-F238E27FC236}">
                <a16:creationId xmlns:a16="http://schemas.microsoft.com/office/drawing/2014/main" id="{59E1C173-9018-5FD1-DB54-F3A628A36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AB591E-CB98-35C2-C067-FE43A876132F}"/>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167242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9E2268-4299-E34B-BD71-D95D3D35A4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1530C6-7C35-51EB-C575-57EAAAFA21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14313E-02AF-BA52-E93C-339D51B917D0}"/>
              </a:ext>
            </a:extLst>
          </p:cNvPr>
          <p:cNvSpPr>
            <a:spLocks noGrp="1"/>
          </p:cNvSpPr>
          <p:nvPr>
            <p:ph type="dt" sz="half" idx="10"/>
          </p:nvPr>
        </p:nvSpPr>
        <p:spPr/>
        <p:txBody>
          <a:bodyPr/>
          <a:lstStyle/>
          <a:p>
            <a:fld id="{E4ED4521-A167-42A9-B5DB-1E7B918ED173}" type="datetimeFigureOut">
              <a:rPr lang="en-IN" smtClean="0"/>
              <a:t>23-09-2026</a:t>
            </a:fld>
            <a:endParaRPr lang="en-IN"/>
          </a:p>
        </p:txBody>
      </p:sp>
      <p:sp>
        <p:nvSpPr>
          <p:cNvPr id="5" name="Footer Placeholder 4">
            <a:extLst>
              <a:ext uri="{FF2B5EF4-FFF2-40B4-BE49-F238E27FC236}">
                <a16:creationId xmlns:a16="http://schemas.microsoft.com/office/drawing/2014/main" id="{6524A1C4-92F2-7FC5-951B-165D44BF6D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EFD3FC-0EA9-AB4A-3F02-45363AB7B294}"/>
              </a:ext>
            </a:extLst>
          </p:cNvPr>
          <p:cNvSpPr>
            <a:spLocks noGrp="1"/>
          </p:cNvSpPr>
          <p:nvPr>
            <p:ph type="sldNum" sz="quarter" idx="12"/>
          </p:nvPr>
        </p:nvSpPr>
        <p:spPr/>
        <p:txBody>
          <a:bodyPr/>
          <a:lstStyle/>
          <a:p>
            <a:fld id="{C6F3C40E-74DD-428C-9033-EA794D10B311}" type="slidenum">
              <a:rPr lang="en-IN" smtClean="0"/>
              <a:t>‹#›</a:t>
            </a:fld>
            <a:endParaRPr lang="en-IN"/>
          </a:p>
        </p:txBody>
      </p:sp>
    </p:spTree>
    <p:extLst>
      <p:ext uri="{BB962C8B-B14F-4D97-AF65-F5344CB8AC3E}">
        <p14:creationId xmlns:p14="http://schemas.microsoft.com/office/powerpoint/2010/main" val="866161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DF2E3B-BE71-1DC4-7283-424BAE84A0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7B572B-DD87-5CE0-EFEF-786FFACA38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82C779-1FE5-C10E-38C6-B842DFDA44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ED4521-A167-42A9-B5DB-1E7B918ED173}" type="datetimeFigureOut">
              <a:rPr lang="en-IN" smtClean="0"/>
              <a:t>23-09-2026</a:t>
            </a:fld>
            <a:endParaRPr lang="en-IN"/>
          </a:p>
        </p:txBody>
      </p:sp>
      <p:sp>
        <p:nvSpPr>
          <p:cNvPr id="5" name="Footer Placeholder 4">
            <a:extLst>
              <a:ext uri="{FF2B5EF4-FFF2-40B4-BE49-F238E27FC236}">
                <a16:creationId xmlns:a16="http://schemas.microsoft.com/office/drawing/2014/main" id="{E1B29BAC-DFC0-D356-8E5B-3C6C0441A6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1218DC4-7C27-EF20-E009-D1F10FC0A6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F3C40E-74DD-428C-9033-EA794D10B311}" type="slidenum">
              <a:rPr lang="en-IN" smtClean="0"/>
              <a:t>‹#›</a:t>
            </a:fld>
            <a:endParaRPr lang="en-IN"/>
          </a:p>
        </p:txBody>
      </p:sp>
    </p:spTree>
    <p:extLst>
      <p:ext uri="{BB962C8B-B14F-4D97-AF65-F5344CB8AC3E}">
        <p14:creationId xmlns:p14="http://schemas.microsoft.com/office/powerpoint/2010/main" val="2554250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F5F5-34D6-4BC0-8ED4-3155080B9CE4}"/>
              </a:ext>
            </a:extLst>
          </p:cNvPr>
          <p:cNvSpPr>
            <a:spLocks noGrp="1"/>
          </p:cNvSpPr>
          <p:nvPr>
            <p:ph type="ctrTitle"/>
          </p:nvPr>
        </p:nvSpPr>
        <p:spPr/>
        <p:txBody>
          <a:bodyPr/>
          <a:lstStyle/>
          <a:p>
            <a:r>
              <a:rPr lang="en-IN" dirty="0">
                <a:solidFill>
                  <a:srgbClr val="FF0000"/>
                </a:solidFill>
              </a:rPr>
              <a:t>POWER BI </a:t>
            </a:r>
          </a:p>
        </p:txBody>
      </p:sp>
      <p:sp>
        <p:nvSpPr>
          <p:cNvPr id="3" name="Subtitle 2">
            <a:extLst>
              <a:ext uri="{FF2B5EF4-FFF2-40B4-BE49-F238E27FC236}">
                <a16:creationId xmlns:a16="http://schemas.microsoft.com/office/drawing/2014/main" id="{8E75A073-9513-12E9-A2F4-33154F6634D7}"/>
              </a:ext>
            </a:extLst>
          </p:cNvPr>
          <p:cNvSpPr>
            <a:spLocks noGrp="1"/>
          </p:cNvSpPr>
          <p:nvPr>
            <p:ph type="subTitle" idx="1"/>
          </p:nvPr>
        </p:nvSpPr>
        <p:spPr/>
        <p:txBody>
          <a:bodyPr/>
          <a:lstStyle/>
          <a:p>
            <a:r>
              <a:rPr lang="en-IN" dirty="0"/>
              <a:t>WEEK 1 TASK </a:t>
            </a:r>
          </a:p>
        </p:txBody>
      </p:sp>
      <p:sp>
        <p:nvSpPr>
          <p:cNvPr id="4" name="TextBox 3">
            <a:extLst>
              <a:ext uri="{FF2B5EF4-FFF2-40B4-BE49-F238E27FC236}">
                <a16:creationId xmlns:a16="http://schemas.microsoft.com/office/drawing/2014/main" id="{1BAFD0E2-2604-91CC-8FB1-08B6D452EE6A}"/>
              </a:ext>
            </a:extLst>
          </p:cNvPr>
          <p:cNvSpPr txBox="1"/>
          <p:nvPr/>
        </p:nvSpPr>
        <p:spPr>
          <a:xfrm>
            <a:off x="7336465" y="4922874"/>
            <a:ext cx="3167342" cy="923330"/>
          </a:xfrm>
          <a:prstGeom prst="rect">
            <a:avLst/>
          </a:prstGeom>
          <a:noFill/>
        </p:spPr>
        <p:txBody>
          <a:bodyPr wrap="none" rtlCol="0">
            <a:spAutoFit/>
          </a:bodyPr>
          <a:lstStyle/>
          <a:p>
            <a:r>
              <a:rPr lang="en-IN" dirty="0"/>
              <a:t>NAME                 :  SOWMIYA R</a:t>
            </a:r>
          </a:p>
          <a:p>
            <a:r>
              <a:rPr lang="en-IN" dirty="0"/>
              <a:t>DEPARTMENT :  </a:t>
            </a:r>
            <a:r>
              <a:rPr lang="en-IN" dirty="0" err="1"/>
              <a:t>B.Sc</a:t>
            </a:r>
            <a:r>
              <a:rPr lang="en-IN" dirty="0"/>
              <a:t>(DS  &amp;  AI)</a:t>
            </a:r>
          </a:p>
          <a:p>
            <a:r>
              <a:rPr lang="en-IN" dirty="0"/>
              <a:t>ROLL NO           :  E25DA041</a:t>
            </a:r>
          </a:p>
        </p:txBody>
      </p:sp>
    </p:spTree>
    <p:extLst>
      <p:ext uri="{BB962C8B-B14F-4D97-AF65-F5344CB8AC3E}">
        <p14:creationId xmlns:p14="http://schemas.microsoft.com/office/powerpoint/2010/main" val="2754543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1A7F84-A544-D079-440C-D51B3D8EBF2F}"/>
              </a:ext>
            </a:extLst>
          </p:cNvPr>
          <p:cNvSpPr txBox="1"/>
          <p:nvPr/>
        </p:nvSpPr>
        <p:spPr>
          <a:xfrm>
            <a:off x="211874" y="425302"/>
            <a:ext cx="11048006" cy="7263527"/>
          </a:xfrm>
          <a:prstGeom prst="rect">
            <a:avLst/>
          </a:prstGeom>
          <a:noFill/>
        </p:spPr>
        <p:txBody>
          <a:bodyPr wrap="square" rtlCol="0">
            <a:spAutoFit/>
          </a:bodyPr>
          <a:lstStyle/>
          <a:p>
            <a:pPr marL="514350" indent="-514350">
              <a:buFont typeface="+mj-lt"/>
              <a:buAutoNum type="arabicPeriod"/>
            </a:pPr>
            <a:r>
              <a:rPr lang="en-IN" sz="2800" b="1" dirty="0"/>
              <a:t>Introduction</a:t>
            </a:r>
          </a:p>
          <a:p>
            <a:r>
              <a:rPr lang="en-IN" sz="2000" dirty="0"/>
              <a:t>This report summarizes the activities, learnings, and deliverables completed during Week 1 of the Power BI internship. The focus of this week was to understand the problem statement, select a suitable dataset, and plan the data strategy for building an interactive Power BI report.</a:t>
            </a:r>
          </a:p>
          <a:p>
            <a:endParaRPr lang="en-IN" dirty="0"/>
          </a:p>
          <a:p>
            <a:pPr marL="457200" indent="-457200">
              <a:buAutoNum type="arabicPeriod" startAt="2"/>
            </a:pPr>
            <a:r>
              <a:rPr lang="en-IN" sz="2400" b="1" dirty="0"/>
              <a:t>Objectives of Week 1</a:t>
            </a:r>
          </a:p>
          <a:p>
            <a:pPr marL="285750" lvl="0" indent="-285750">
              <a:buFont typeface="Arial" panose="020B0604020202020204" pitchFamily="34" charset="0"/>
              <a:buChar char="•"/>
            </a:pPr>
            <a:r>
              <a:rPr lang="en-IN" sz="2000" dirty="0"/>
              <a:t>Understand the overall goal of the Power BI project.</a:t>
            </a:r>
          </a:p>
          <a:p>
            <a:pPr marL="285750" lvl="0" indent="-285750">
              <a:buFont typeface="Arial" panose="020B0604020202020204" pitchFamily="34" charset="0"/>
              <a:buChar char="•"/>
            </a:pPr>
            <a:r>
              <a:rPr lang="en-IN" sz="2000" dirty="0"/>
              <a:t>Select a publicly available dataset suitable for analysis.</a:t>
            </a:r>
          </a:p>
          <a:p>
            <a:pPr marL="285750" lvl="0" indent="-285750">
              <a:buFont typeface="Arial" panose="020B0604020202020204" pitchFamily="34" charset="0"/>
              <a:buChar char="•"/>
            </a:pPr>
            <a:r>
              <a:rPr lang="en-IN" sz="2000" dirty="0"/>
              <a:t>Perform initial data exploration and identify key fields.</a:t>
            </a:r>
          </a:p>
          <a:p>
            <a:pPr marL="285750" lvl="0" indent="-285750">
              <a:buFont typeface="Arial" panose="020B0604020202020204" pitchFamily="34" charset="0"/>
              <a:buChar char="•"/>
            </a:pPr>
            <a:r>
              <a:rPr lang="en-IN" sz="2000" dirty="0"/>
              <a:t>Plan the data model (tables, relationships, primary/foreign keys).</a:t>
            </a:r>
          </a:p>
          <a:p>
            <a:pPr marL="285750" lvl="0" indent="-285750">
              <a:buFont typeface="Arial" panose="020B0604020202020204" pitchFamily="34" charset="0"/>
              <a:buChar char="•"/>
            </a:pPr>
            <a:r>
              <a:rPr lang="en-IN" sz="2000" dirty="0"/>
              <a:t>Document the process with screenshots and explanations.</a:t>
            </a:r>
          </a:p>
          <a:p>
            <a:endParaRPr lang="en-IN" sz="2000" dirty="0"/>
          </a:p>
          <a:p>
            <a:r>
              <a:rPr lang="en-IN" sz="2400" b="1" dirty="0"/>
              <a:t>3</a:t>
            </a:r>
            <a:r>
              <a:rPr lang="en-IN" sz="2000" b="1" dirty="0"/>
              <a:t>.  </a:t>
            </a:r>
            <a:r>
              <a:rPr lang="en-IN" sz="2400" b="1" dirty="0"/>
              <a:t>Dataset Selection</a:t>
            </a:r>
          </a:p>
          <a:p>
            <a:r>
              <a:rPr lang="en-IN" sz="2000" b="1" dirty="0"/>
              <a:t>Dataset Name:</a:t>
            </a:r>
            <a:r>
              <a:rPr lang="en-IN" sz="2000" dirty="0"/>
              <a:t> [e.g., “Sales Data”, “HR Attrition”, “Credit Card Transactions”]</a:t>
            </a:r>
            <a:br>
              <a:rPr lang="en-IN" sz="2000" dirty="0"/>
            </a:br>
            <a:r>
              <a:rPr lang="en-IN" sz="2000" b="1" dirty="0"/>
              <a:t>Source:</a:t>
            </a:r>
            <a:r>
              <a:rPr lang="en-IN" sz="2000" dirty="0"/>
              <a:t> [Kaggle / GitHub / Government Portal / Company-provided]</a:t>
            </a:r>
            <a:br>
              <a:rPr lang="en-IN" sz="2000" dirty="0"/>
            </a:br>
            <a:r>
              <a:rPr lang="en-IN" sz="2000" b="1" dirty="0"/>
              <a:t>Why this dataset?:</a:t>
            </a:r>
            <a:endParaRPr lang="en-IN" sz="2000" dirty="0"/>
          </a:p>
          <a:p>
            <a:pPr lvl="0"/>
            <a:r>
              <a:rPr lang="en-IN" sz="2000" dirty="0"/>
              <a:t>Contains multiple dimensions (e.g., time, product, customer).</a:t>
            </a:r>
          </a:p>
          <a:p>
            <a:pPr lvl="0"/>
            <a:r>
              <a:rPr lang="en-IN" sz="2000" dirty="0"/>
              <a:t>Suitable for building KPIs and interactive visuals.</a:t>
            </a:r>
          </a:p>
          <a:p>
            <a:pPr lvl="0"/>
            <a:r>
              <a:rPr lang="en-IN" sz="2000" dirty="0"/>
              <a:t>Clean enough for initial </a:t>
            </a:r>
            <a:r>
              <a:rPr lang="en-IN" sz="2000" dirty="0" err="1"/>
              <a:t>modeling</a:t>
            </a:r>
            <a:r>
              <a:rPr lang="en-IN" sz="2000" dirty="0"/>
              <a:t>, but still needs transformation.github+1</a:t>
            </a:r>
          </a:p>
          <a:p>
            <a:pPr marL="285750" lvl="0" indent="-285750">
              <a:buFont typeface="Arial" panose="020B0604020202020204" pitchFamily="34" charset="0"/>
              <a:buChar char="•"/>
            </a:pPr>
            <a:endParaRPr lang="en-IN" sz="2000" dirty="0"/>
          </a:p>
          <a:p>
            <a:endParaRPr lang="en-IN" sz="2000" dirty="0"/>
          </a:p>
          <a:p>
            <a:endParaRPr lang="en-IN" dirty="0"/>
          </a:p>
          <a:p>
            <a:endParaRPr lang="en-IN" dirty="0"/>
          </a:p>
        </p:txBody>
      </p:sp>
    </p:spTree>
    <p:extLst>
      <p:ext uri="{BB962C8B-B14F-4D97-AF65-F5344CB8AC3E}">
        <p14:creationId xmlns:p14="http://schemas.microsoft.com/office/powerpoint/2010/main" val="3346187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41C14F-56E9-6552-CF1A-38A418C50AB0}"/>
              </a:ext>
            </a:extLst>
          </p:cNvPr>
          <p:cNvSpPr txBox="1"/>
          <p:nvPr/>
        </p:nvSpPr>
        <p:spPr>
          <a:xfrm>
            <a:off x="382772" y="361508"/>
            <a:ext cx="6549160" cy="5663089"/>
          </a:xfrm>
          <a:prstGeom prst="rect">
            <a:avLst/>
          </a:prstGeom>
          <a:noFill/>
        </p:spPr>
        <p:txBody>
          <a:bodyPr wrap="square" rtlCol="0">
            <a:spAutoFit/>
          </a:bodyPr>
          <a:lstStyle/>
          <a:p>
            <a:r>
              <a:rPr lang="en-IN" sz="2400" b="1" dirty="0"/>
              <a:t>4. Data Strategy and Planning</a:t>
            </a:r>
          </a:p>
          <a:p>
            <a:r>
              <a:rPr lang="en-IN" b="1" dirty="0"/>
              <a:t>Data Cleaning Plan</a:t>
            </a:r>
          </a:p>
          <a:p>
            <a:pPr marL="285750" lvl="0" indent="-285750">
              <a:buFont typeface="Arial" panose="020B0604020202020204" pitchFamily="34" charset="0"/>
              <a:buChar char="•"/>
            </a:pPr>
            <a:r>
              <a:rPr lang="en-IN" sz="2000" dirty="0"/>
              <a:t>Remove duplicates and nulls in key columns.</a:t>
            </a:r>
          </a:p>
          <a:p>
            <a:pPr marL="285750" lvl="0" indent="-285750">
              <a:buFont typeface="Arial" panose="020B0604020202020204" pitchFamily="34" charset="0"/>
              <a:buChar char="•"/>
            </a:pPr>
            <a:r>
              <a:rPr lang="en-IN" sz="2000" dirty="0"/>
              <a:t>Standardize date formats.</a:t>
            </a:r>
          </a:p>
          <a:p>
            <a:pPr marL="285750" lvl="0" indent="-285750">
              <a:buFont typeface="Arial" panose="020B0604020202020204" pitchFamily="34" charset="0"/>
              <a:buChar char="•"/>
            </a:pPr>
            <a:r>
              <a:rPr lang="en-IN" sz="2000" dirty="0"/>
              <a:t>Create calculated columns (e.g., Month, Quarter, Year).</a:t>
            </a:r>
          </a:p>
          <a:p>
            <a:pPr marL="285750" lvl="0" indent="-285750">
              <a:buFont typeface="Arial" panose="020B0604020202020204" pitchFamily="34" charset="0"/>
              <a:buChar char="•"/>
            </a:pPr>
            <a:r>
              <a:rPr lang="en-IN" sz="2000" dirty="0"/>
              <a:t>Handle outliers if present</a:t>
            </a:r>
          </a:p>
          <a:p>
            <a:pPr marL="285750" lvl="0" indent="-285750">
              <a:buFont typeface="Arial" panose="020B0604020202020204" pitchFamily="34" charset="0"/>
              <a:buChar char="•"/>
            </a:pPr>
            <a:endParaRPr lang="en-IN" dirty="0"/>
          </a:p>
          <a:p>
            <a:r>
              <a:rPr lang="en-IN" sz="2400" b="1" dirty="0"/>
              <a:t>5. Tasks Completed</a:t>
            </a:r>
          </a:p>
          <a:p>
            <a:pPr marL="285750" lvl="0" indent="-285750">
              <a:buFont typeface="Arial" panose="020B0604020202020204" pitchFamily="34" charset="0"/>
              <a:buChar char="•"/>
            </a:pPr>
            <a:r>
              <a:rPr lang="en-IN" sz="2000" dirty="0"/>
              <a:t>Installed and set up Power BI Desktop.</a:t>
            </a:r>
          </a:p>
          <a:p>
            <a:pPr marL="285750" lvl="0" indent="-285750">
              <a:buFont typeface="Arial" panose="020B0604020202020204" pitchFamily="34" charset="0"/>
              <a:buChar char="•"/>
            </a:pPr>
            <a:r>
              <a:rPr lang="en-IN" sz="2000" dirty="0"/>
              <a:t>Imported the selected dataset into Power BI.</a:t>
            </a:r>
          </a:p>
          <a:p>
            <a:pPr marL="285750" lvl="0" indent="-285750">
              <a:buFont typeface="Arial" panose="020B0604020202020204" pitchFamily="34" charset="0"/>
              <a:buChar char="•"/>
            </a:pPr>
            <a:r>
              <a:rPr lang="en-IN" sz="2000" dirty="0"/>
              <a:t>Explored data using Power Query Editor.</a:t>
            </a:r>
          </a:p>
          <a:p>
            <a:pPr marL="285750" lvl="0" indent="-285750">
              <a:buFont typeface="Arial" panose="020B0604020202020204" pitchFamily="34" charset="0"/>
              <a:buChar char="•"/>
            </a:pPr>
            <a:r>
              <a:rPr lang="en-IN" sz="2000" dirty="0"/>
              <a:t>Performed basic cleaning (removed blanks, fixed data types).</a:t>
            </a:r>
          </a:p>
          <a:p>
            <a:pPr marL="285750" lvl="0" indent="-285750">
              <a:buFont typeface="Arial" panose="020B0604020202020204" pitchFamily="34" charset="0"/>
              <a:buChar char="•"/>
            </a:pPr>
            <a:r>
              <a:rPr lang="en-IN" sz="2000" dirty="0"/>
              <a:t>Created a simple data model with 2–3 tables and relationships.</a:t>
            </a:r>
          </a:p>
          <a:p>
            <a:pPr marL="285750" lvl="0" indent="-285750">
              <a:buFont typeface="Arial" panose="020B0604020202020204" pitchFamily="34" charset="0"/>
              <a:buChar char="•"/>
            </a:pPr>
            <a:r>
              <a:rPr lang="en-IN" sz="2000" dirty="0"/>
              <a:t>Documented each step with screenshots.</a:t>
            </a:r>
          </a:p>
          <a:p>
            <a:pPr marL="285750" lvl="0" indent="-285750">
              <a:buFont typeface="Arial" panose="020B0604020202020204" pitchFamily="34" charset="0"/>
              <a:buChar char="•"/>
            </a:pPr>
            <a:endParaRPr lang="en-IN" sz="2000" dirty="0"/>
          </a:p>
          <a:p>
            <a:endParaRPr lang="en-IN" dirty="0"/>
          </a:p>
        </p:txBody>
      </p:sp>
    </p:spTree>
    <p:extLst>
      <p:ext uri="{BB962C8B-B14F-4D97-AF65-F5344CB8AC3E}">
        <p14:creationId xmlns:p14="http://schemas.microsoft.com/office/powerpoint/2010/main" val="47542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A211-85CD-069C-FD07-3CF92578A7B5}"/>
              </a:ext>
            </a:extLst>
          </p:cNvPr>
          <p:cNvSpPr>
            <a:spLocks noGrp="1"/>
          </p:cNvSpPr>
          <p:nvPr>
            <p:ph type="title"/>
          </p:nvPr>
        </p:nvSpPr>
        <p:spPr/>
        <p:txBody>
          <a:bodyPr/>
          <a:lstStyle/>
          <a:p>
            <a:r>
              <a:rPr lang="en-IN" dirty="0"/>
              <a:t>SCREENSHOT 1 :</a:t>
            </a:r>
            <a:br>
              <a:rPr lang="en-IN" dirty="0"/>
            </a:br>
            <a:endParaRPr lang="en-IN" dirty="0"/>
          </a:p>
        </p:txBody>
      </p:sp>
      <p:pic>
        <p:nvPicPr>
          <p:cNvPr id="6" name="Picture Placeholder 5">
            <a:extLst>
              <a:ext uri="{FF2B5EF4-FFF2-40B4-BE49-F238E27FC236}">
                <a16:creationId xmlns:a16="http://schemas.microsoft.com/office/drawing/2014/main" id="{C20EFBF8-C082-BF1E-C026-F6866A42397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8373" r="18373"/>
          <a:stretch>
            <a:fillRect/>
          </a:stretch>
        </p:blipFill>
        <p:spPr>
          <a:prstGeom prst="rect">
            <a:avLst/>
          </a:prstGeom>
        </p:spPr>
      </p:pic>
      <p:sp>
        <p:nvSpPr>
          <p:cNvPr id="4" name="Text Placeholder 3">
            <a:extLst>
              <a:ext uri="{FF2B5EF4-FFF2-40B4-BE49-F238E27FC236}">
                <a16:creationId xmlns:a16="http://schemas.microsoft.com/office/drawing/2014/main" id="{6ECC20A4-94B1-4309-8BB3-5E1289D608F7}"/>
              </a:ext>
            </a:extLst>
          </p:cNvPr>
          <p:cNvSpPr>
            <a:spLocks noGrp="1"/>
          </p:cNvSpPr>
          <p:nvPr>
            <p:ph type="body" sz="half" idx="2"/>
          </p:nvPr>
        </p:nvSpPr>
        <p:spPr/>
        <p:txBody>
          <a:bodyPr>
            <a:normAutofit/>
          </a:bodyPr>
          <a:lstStyle/>
          <a:p>
            <a:r>
              <a:rPr lang="en-IN" sz="2000" b="1" dirty="0"/>
              <a:t>Title:</a:t>
            </a:r>
            <a:br>
              <a:rPr lang="en-IN" sz="2000" dirty="0"/>
            </a:br>
            <a:r>
              <a:rPr lang="en-IN" sz="2000" b="1" dirty="0"/>
              <a:t>Data Import into Power Query Editor</a:t>
            </a:r>
            <a:endParaRPr lang="en-IN" sz="2000" dirty="0"/>
          </a:p>
          <a:p>
            <a:r>
              <a:rPr lang="en-IN" sz="2000" dirty="0"/>
              <a:t>The Superstore dataset was successfully imported into Power Query Editor for data cleaning and transformation.</a:t>
            </a:r>
          </a:p>
        </p:txBody>
      </p:sp>
    </p:spTree>
    <p:extLst>
      <p:ext uri="{BB962C8B-B14F-4D97-AF65-F5344CB8AC3E}">
        <p14:creationId xmlns:p14="http://schemas.microsoft.com/office/powerpoint/2010/main" val="1775059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1449-605A-14A5-3380-456DE615F65E}"/>
              </a:ext>
            </a:extLst>
          </p:cNvPr>
          <p:cNvSpPr>
            <a:spLocks noGrp="1"/>
          </p:cNvSpPr>
          <p:nvPr>
            <p:ph type="title"/>
          </p:nvPr>
        </p:nvSpPr>
        <p:spPr/>
        <p:txBody>
          <a:bodyPr/>
          <a:lstStyle/>
          <a:p>
            <a:r>
              <a:rPr lang="en-IN" dirty="0"/>
              <a:t>SCREENSHOT 2 :</a:t>
            </a:r>
            <a:br>
              <a:rPr lang="en-IN" dirty="0"/>
            </a:br>
            <a:endParaRPr lang="en-IN" dirty="0"/>
          </a:p>
        </p:txBody>
      </p:sp>
      <p:pic>
        <p:nvPicPr>
          <p:cNvPr id="6" name="Picture Placeholder 5">
            <a:extLst>
              <a:ext uri="{FF2B5EF4-FFF2-40B4-BE49-F238E27FC236}">
                <a16:creationId xmlns:a16="http://schemas.microsoft.com/office/drawing/2014/main" id="{FF1A9BEA-AE87-BF76-A8B9-41D4D00F3D2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8424" r="18424"/>
          <a:stretch>
            <a:fillRect/>
          </a:stretch>
        </p:blipFill>
        <p:spPr>
          <a:prstGeom prst="rect">
            <a:avLst/>
          </a:prstGeom>
        </p:spPr>
      </p:pic>
      <p:sp>
        <p:nvSpPr>
          <p:cNvPr id="4" name="Text Placeholder 3">
            <a:extLst>
              <a:ext uri="{FF2B5EF4-FFF2-40B4-BE49-F238E27FC236}">
                <a16:creationId xmlns:a16="http://schemas.microsoft.com/office/drawing/2014/main" id="{58DEBBF4-67ED-4B4F-091F-ECCACA898F51}"/>
              </a:ext>
            </a:extLst>
          </p:cNvPr>
          <p:cNvSpPr>
            <a:spLocks noGrp="1"/>
          </p:cNvSpPr>
          <p:nvPr>
            <p:ph type="body" sz="half" idx="2"/>
          </p:nvPr>
        </p:nvSpPr>
        <p:spPr/>
        <p:txBody>
          <a:bodyPr>
            <a:normAutofit/>
          </a:bodyPr>
          <a:lstStyle/>
          <a:p>
            <a:r>
              <a:rPr lang="en-IN" sz="2000" b="1" dirty="0"/>
              <a:t>Title:</a:t>
            </a:r>
            <a:br>
              <a:rPr lang="en-IN" sz="2000" dirty="0"/>
            </a:br>
            <a:r>
              <a:rPr lang="en-IN" sz="2000" b="1" dirty="0"/>
              <a:t>Text Cleaning and Data Transformation</a:t>
            </a:r>
            <a:endParaRPr lang="en-IN" sz="2000" dirty="0"/>
          </a:p>
          <a:p>
            <a:r>
              <a:rPr lang="en-IN" sz="2000" dirty="0"/>
              <a:t>The Superstore dataset was successfully imported into Power Query Editor. The dataset contains multiple columns such as Row ID, Order ID, Order Date, Ship Date, and Ship Mode. The imported records are displayed in rows for further data cleaning and transformation.</a:t>
            </a:r>
          </a:p>
        </p:txBody>
      </p:sp>
    </p:spTree>
    <p:extLst>
      <p:ext uri="{BB962C8B-B14F-4D97-AF65-F5344CB8AC3E}">
        <p14:creationId xmlns:p14="http://schemas.microsoft.com/office/powerpoint/2010/main" val="200301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3FAD-21CF-265C-2FE1-D0B0B3AE01F9}"/>
              </a:ext>
            </a:extLst>
          </p:cNvPr>
          <p:cNvSpPr>
            <a:spLocks noGrp="1"/>
          </p:cNvSpPr>
          <p:nvPr>
            <p:ph type="title"/>
          </p:nvPr>
        </p:nvSpPr>
        <p:spPr/>
        <p:txBody>
          <a:bodyPr/>
          <a:lstStyle/>
          <a:p>
            <a:r>
              <a:rPr lang="en-IN" dirty="0"/>
              <a:t>SCREENSHOT 3 :</a:t>
            </a:r>
            <a:br>
              <a:rPr lang="en-IN" dirty="0"/>
            </a:br>
            <a:endParaRPr lang="en-IN" dirty="0"/>
          </a:p>
        </p:txBody>
      </p:sp>
      <p:pic>
        <p:nvPicPr>
          <p:cNvPr id="6" name="Picture Placeholder 5">
            <a:extLst>
              <a:ext uri="{FF2B5EF4-FFF2-40B4-BE49-F238E27FC236}">
                <a16:creationId xmlns:a16="http://schemas.microsoft.com/office/drawing/2014/main" id="{8D078B33-2B78-BB14-E64B-04FD260557E4}"/>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8356" r="18356"/>
          <a:stretch>
            <a:fillRect/>
          </a:stretch>
        </p:blipFill>
        <p:spPr>
          <a:prstGeom prst="rect">
            <a:avLst/>
          </a:prstGeom>
        </p:spPr>
      </p:pic>
      <p:sp>
        <p:nvSpPr>
          <p:cNvPr id="4" name="Text Placeholder 3">
            <a:extLst>
              <a:ext uri="{FF2B5EF4-FFF2-40B4-BE49-F238E27FC236}">
                <a16:creationId xmlns:a16="http://schemas.microsoft.com/office/drawing/2014/main" id="{721D664F-DF9D-8F31-6BE5-800CB6336001}"/>
              </a:ext>
            </a:extLst>
          </p:cNvPr>
          <p:cNvSpPr>
            <a:spLocks noGrp="1"/>
          </p:cNvSpPr>
          <p:nvPr>
            <p:ph type="body" sz="half" idx="2"/>
          </p:nvPr>
        </p:nvSpPr>
        <p:spPr/>
        <p:txBody>
          <a:bodyPr>
            <a:normAutofit/>
          </a:bodyPr>
          <a:lstStyle/>
          <a:p>
            <a:r>
              <a:rPr lang="en-IN" sz="2000" b="1" dirty="0"/>
              <a:t>Topic:</a:t>
            </a:r>
          </a:p>
          <a:p>
            <a:r>
              <a:rPr lang="en-IN" sz="2000" b="1" dirty="0"/>
              <a:t>Text Cleaning and Data Transformation</a:t>
            </a:r>
          </a:p>
          <a:p>
            <a:r>
              <a:rPr lang="en-IN" sz="2000" dirty="0"/>
              <a:t>The text columns in the Superstore dataset were cleaned using Power Query. Text trimming was applied to remove unnecessary spaces from fields such as Sub-Category and Segment. The cleaned data was then checked to ensure that the values were properly formatted.</a:t>
            </a:r>
            <a:endParaRPr lang="en-IN" sz="2000" b="1" dirty="0"/>
          </a:p>
        </p:txBody>
      </p:sp>
    </p:spTree>
    <p:extLst>
      <p:ext uri="{BB962C8B-B14F-4D97-AF65-F5344CB8AC3E}">
        <p14:creationId xmlns:p14="http://schemas.microsoft.com/office/powerpoint/2010/main" val="2619688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C2F3-9303-CECB-64EB-F69ED13A29B0}"/>
              </a:ext>
            </a:extLst>
          </p:cNvPr>
          <p:cNvSpPr>
            <a:spLocks noGrp="1"/>
          </p:cNvSpPr>
          <p:nvPr>
            <p:ph type="title"/>
          </p:nvPr>
        </p:nvSpPr>
        <p:spPr/>
        <p:txBody>
          <a:bodyPr/>
          <a:lstStyle/>
          <a:p>
            <a:r>
              <a:rPr lang="en-IN" dirty="0"/>
              <a:t>SCREENSHOT 4 :</a:t>
            </a:r>
            <a:br>
              <a:rPr lang="en-IN" dirty="0"/>
            </a:br>
            <a:endParaRPr lang="en-IN" dirty="0"/>
          </a:p>
        </p:txBody>
      </p:sp>
      <p:pic>
        <p:nvPicPr>
          <p:cNvPr id="6" name="Picture Placeholder 5">
            <a:extLst>
              <a:ext uri="{FF2B5EF4-FFF2-40B4-BE49-F238E27FC236}">
                <a16:creationId xmlns:a16="http://schemas.microsoft.com/office/drawing/2014/main" id="{9F9B2FEB-3D64-F62A-7730-0F02AF66952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8625" r="18625"/>
          <a:stretch>
            <a:fillRect/>
          </a:stretch>
        </p:blipFill>
        <p:spPr>
          <a:prstGeom prst="rect">
            <a:avLst/>
          </a:prstGeom>
        </p:spPr>
      </p:pic>
      <p:sp>
        <p:nvSpPr>
          <p:cNvPr id="4" name="Text Placeholder 3">
            <a:extLst>
              <a:ext uri="{FF2B5EF4-FFF2-40B4-BE49-F238E27FC236}">
                <a16:creationId xmlns:a16="http://schemas.microsoft.com/office/drawing/2014/main" id="{2F0381AA-1C8C-DAC3-655E-E742C13BA118}"/>
              </a:ext>
            </a:extLst>
          </p:cNvPr>
          <p:cNvSpPr>
            <a:spLocks noGrp="1"/>
          </p:cNvSpPr>
          <p:nvPr>
            <p:ph type="body" sz="half" idx="2"/>
          </p:nvPr>
        </p:nvSpPr>
        <p:spPr/>
        <p:txBody>
          <a:bodyPr>
            <a:normAutofit/>
          </a:bodyPr>
          <a:lstStyle/>
          <a:p>
            <a:r>
              <a:rPr lang="en-IN" sz="1800" b="1" dirty="0"/>
              <a:t>Title:</a:t>
            </a:r>
            <a:br>
              <a:rPr lang="en-IN" sz="1800" dirty="0"/>
            </a:br>
            <a:r>
              <a:rPr lang="en-IN" sz="1800" b="1" dirty="0"/>
              <a:t>Order Date Transformation</a:t>
            </a:r>
          </a:p>
          <a:p>
            <a:r>
              <a:rPr lang="en-IN" sz="1800" dirty="0"/>
              <a:t>The Order Date column was separated into individual date components such as </a:t>
            </a:r>
            <a:r>
              <a:rPr lang="en-IN" sz="1800" b="1" dirty="0"/>
              <a:t>Year, Quarter, Month, Day, and Day of Week</a:t>
            </a:r>
            <a:r>
              <a:rPr lang="en-IN" sz="1800" dirty="0"/>
              <a:t> using Power Query. This transformation makes the date information easier to </a:t>
            </a:r>
            <a:r>
              <a:rPr lang="en-IN" sz="1800" dirty="0" err="1"/>
              <a:t>analyze</a:t>
            </a:r>
            <a:r>
              <a:rPr lang="en-IN" sz="1800" dirty="0"/>
              <a:t> and use for further data analysis.</a:t>
            </a:r>
          </a:p>
        </p:txBody>
      </p:sp>
    </p:spTree>
    <p:extLst>
      <p:ext uri="{BB962C8B-B14F-4D97-AF65-F5344CB8AC3E}">
        <p14:creationId xmlns:p14="http://schemas.microsoft.com/office/powerpoint/2010/main" val="402755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2433D0-E3D0-7CC8-4861-F231228F6062}"/>
              </a:ext>
            </a:extLst>
          </p:cNvPr>
          <p:cNvSpPr txBox="1"/>
          <p:nvPr/>
        </p:nvSpPr>
        <p:spPr>
          <a:xfrm>
            <a:off x="457200" y="723014"/>
            <a:ext cx="2804412" cy="461665"/>
          </a:xfrm>
          <a:prstGeom prst="rect">
            <a:avLst/>
          </a:prstGeom>
          <a:noFill/>
        </p:spPr>
        <p:txBody>
          <a:bodyPr wrap="square" rtlCol="0">
            <a:spAutoFit/>
          </a:bodyPr>
          <a:lstStyle/>
          <a:p>
            <a:r>
              <a:rPr lang="en-IN" sz="2400" b="1" dirty="0"/>
              <a:t>CONCLUSION :</a:t>
            </a:r>
          </a:p>
        </p:txBody>
      </p:sp>
      <p:sp>
        <p:nvSpPr>
          <p:cNvPr id="3" name="TextBox 2">
            <a:extLst>
              <a:ext uri="{FF2B5EF4-FFF2-40B4-BE49-F238E27FC236}">
                <a16:creationId xmlns:a16="http://schemas.microsoft.com/office/drawing/2014/main" id="{DB3E3B7F-29AF-A13C-23F5-D10341E59D51}"/>
              </a:ext>
            </a:extLst>
          </p:cNvPr>
          <p:cNvSpPr txBox="1"/>
          <p:nvPr/>
        </p:nvSpPr>
        <p:spPr>
          <a:xfrm>
            <a:off x="903767" y="1562986"/>
            <a:ext cx="9909545" cy="1938992"/>
          </a:xfrm>
          <a:prstGeom prst="rect">
            <a:avLst/>
          </a:prstGeom>
          <a:noFill/>
        </p:spPr>
        <p:txBody>
          <a:bodyPr wrap="square" rtlCol="0">
            <a:spAutoFit/>
          </a:bodyPr>
          <a:lstStyle/>
          <a:p>
            <a:r>
              <a:rPr lang="en-IN" sz="2400" dirty="0"/>
              <a:t>The Superstore dataset was successfully imported and prepared using Power Query. Data cleaning and date transformations were performed to improve data quality and make the dataset suitable for further analysis. The transformed data is now ready for analysis and visualization in Power BI.</a:t>
            </a:r>
          </a:p>
        </p:txBody>
      </p:sp>
    </p:spTree>
    <p:extLst>
      <p:ext uri="{BB962C8B-B14F-4D97-AF65-F5344CB8AC3E}">
        <p14:creationId xmlns:p14="http://schemas.microsoft.com/office/powerpoint/2010/main" val="1730880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547</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 BI </vt:lpstr>
      <vt:lpstr>PowerPoint Presentation</vt:lpstr>
      <vt:lpstr>PowerPoint Presentation</vt:lpstr>
      <vt:lpstr>SCREENSHOT 1 : </vt:lpstr>
      <vt:lpstr>SCREENSHOT 2 : </vt:lpstr>
      <vt:lpstr>SCREENSHOT 3 : </vt:lpstr>
      <vt:lpstr>SCREENSHOT 4 :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Sowmiya V</dc:creator>
  <cp:lastModifiedBy>Sowmiya V</cp:lastModifiedBy>
  <cp:revision>2</cp:revision>
  <dcterms:created xsi:type="dcterms:W3CDTF">2026-09-23T05:49:15Z</dcterms:created>
  <dcterms:modified xsi:type="dcterms:W3CDTF">2026-09-23T13:22:58Z</dcterms:modified>
</cp:coreProperties>
</file>